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1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>
                <a:solidFill>
                  <a:srgbClr val="FFE0E0"/>
                </a:solidFill>
                <a:latin typeface="Arial"/>
              </a:rPr>
              <a:t>SkyFit Imigrantes  ×  V4 Company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5156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Growth
pós Estruturação Estratégica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93192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E0E0"/>
                </a:solidFill>
                <a:latin typeface="Arial"/>
              </a:rPr>
              <a:t>A EE desenhou a máquina 360º. Agora é hora de operar — aquisição rastreada, comercial com método e retenção que fecha o balde furado.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21208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FFE0E0"/>
                </a:solidFill>
                <a:latin typeface="Arial"/>
              </a:rPr>
              <a:t>Jundiaí · Imigrantes · Proposta comercial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FFE0E0"/>
                </a:solidFill>
                <a:latin typeface="Arial"/>
              </a:rPr>
              <a:t>SkyFit Imigrantes × V4 ·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FFE0E0"/>
                </a:solidFill>
                <a:latin typeface="Arial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1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FFE0E0"/>
                </a:solidFill>
                <a:latin typeface="Arial"/>
              </a:rPr>
              <a:t>CONTEXTO · PÓS 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Vocês já vendem.
O problema é o balde furado.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FFE0E0"/>
                </a:solidFill>
                <a:latin typeface="Arial"/>
              </a:rPr>
              <a:t>A EE mostrou: faturamento ~R$ 175k, 140–150 vendas/mês no braço do Gabriel — e 110–120 cancelamentos comendo o líquido. Sem execução assistida, a operação volta ao improviso.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10972800" cy="777240"/>
          </a:xfrm>
          <a:prstGeom prst="roundRect">
            <a:avLst>
              <a:gd name="adj" fmla="val 8000"/>
            </a:avLst>
          </a:prstGeom>
          <a:solidFill>
            <a:srgbClr val="7A0A0E"/>
          </a:solidFill>
          <a:ln w="12700">
            <a:solidFill>
              <a:srgbClr val="E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83464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“Volte a treinar com acompanhamento real, aulas inclusas e uma rotina possível.”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00400"/>
            <a:ext cx="10515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FFE0E0"/>
                </a:solidFill>
                <a:latin typeface="Arial"/>
              </a:rPr>
              <a:t>PUV DA EE — NORTE DESTA PROPOSTA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3566160" cy="2286000"/>
          </a:xfrm>
          <a:prstGeom prst="roundRect">
            <a:avLst>
              <a:gd name="adj" fmla="val 8000"/>
            </a:avLst>
          </a:prstGeom>
          <a:solidFill>
            <a:srgbClr val="6B080C"/>
          </a:solidFill>
          <a:ln w="12700">
            <a:solidFill>
              <a:srgbClr val="E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388620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FFE0E0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42062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EE → execução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7091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E0E0"/>
                </a:solidFill>
                <a:latin typeface="Arial"/>
              </a:rPr>
              <a:t>Diagnóstico, ICP 35+, mix de mídia e retenção 90 dias. Agora vira rotina e KPI.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749039"/>
            <a:ext cx="3566160" cy="2286000"/>
          </a:xfrm>
          <a:prstGeom prst="roundRect">
            <a:avLst>
              <a:gd name="adj" fmla="val 8000"/>
            </a:avLst>
          </a:prstGeom>
          <a:solidFill>
            <a:srgbClr val="6B080C"/>
          </a:solidFill>
          <a:ln w="12700">
            <a:solidFill>
              <a:srgbClr val="E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388620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FFE0E0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2062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Churn como freio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7091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E0E0"/>
                </a:solidFill>
                <a:latin typeface="Arial"/>
              </a:rPr>
              <a:t>Líquido de só 20–30 alunos/mês. Meta R$ 200k exige fechar o furo, não só encher lead.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59" y="3749039"/>
            <a:ext cx="3566160" cy="2286000"/>
          </a:xfrm>
          <a:prstGeom prst="roundRect">
            <a:avLst>
              <a:gd name="adj" fmla="val 8000"/>
            </a:avLst>
          </a:prstGeom>
          <a:solidFill>
            <a:srgbClr val="6B080C"/>
          </a:solidFill>
          <a:ln w="12700">
            <a:solidFill>
              <a:srgbClr val="E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39" y="388620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FFE0E0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9" y="42062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Mídia sem rastreio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39" y="47091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E0E0"/>
                </a:solidFill>
                <a:latin typeface="Arial"/>
              </a:rPr>
              <a:t>Conversa barata no WhatsApp sem matrícula no Meta. Algoritmo treina curioso, não comprador.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FFE0E0"/>
                </a:solidFill>
                <a:latin typeface="Arial"/>
              </a:rPr>
              <a:t>SkyFit Imigrantes × V4 · Growth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FFE0E0"/>
                </a:solidFill>
                <a:latin typeface="Arial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1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FFE0E0"/>
                </a:solidFill>
                <a:latin typeface="Arial"/>
              </a:rPr>
              <a:t>A JORNADA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Do diagnóstico
à execução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FFE0E0"/>
                </a:solidFill>
                <a:latin typeface="Arial"/>
              </a:rPr>
              <a:t>Uma sequência simples: do clique ao 3º mês de treino — sem pular retenção.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6B080C"/>
          </a:solidFill>
          <a:ln w="12700">
            <a:solidFill>
              <a:srgbClr val="E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FFE0E0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83464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2461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E0E0"/>
                </a:solidFill>
                <a:latin typeface="Arial"/>
              </a:rPr>
              <a:t>Já feita — mapa 360º, PUV, mídia, comercial e retenção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28600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6B080C"/>
          </a:solidFill>
          <a:ln w="12700">
            <a:solidFill>
              <a:srgbClr val="E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4231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FFE0E0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83464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Growth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2461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E0E0"/>
                </a:solidFill>
                <a:latin typeface="Arial"/>
              </a:rPr>
              <a:t>Account + Copy + Design + GT em operação contínua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228600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6B080C"/>
          </a:solidFill>
          <a:ln w="12700">
            <a:solidFill>
              <a:srgbClr val="E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39" y="24231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FFE0E0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39" y="283464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Réguas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39" y="32461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E0E0"/>
                </a:solidFill>
                <a:latin typeface="Arial"/>
              </a:rPr>
              <a:t>Onboarding, frequência e recuperação de base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389120"/>
            <a:ext cx="5486400" cy="1645920"/>
          </a:xfrm>
          <a:prstGeom prst="roundRect">
            <a:avLst>
              <a:gd name="adj" fmla="val 8000"/>
            </a:avLst>
          </a:prstGeom>
          <a:solidFill>
            <a:srgbClr val="6B080C"/>
          </a:solidFill>
          <a:ln w="12700">
            <a:solidFill>
              <a:srgbClr val="E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526280"/>
            <a:ext cx="5120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FFE0E0"/>
                </a:solidFill>
                <a:latin typeface="Arial"/>
              </a:rPr>
              <a:t>EXECUTAR · 12 MESES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800600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Assessoria de Growth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21208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E0E0"/>
                </a:solidFill>
                <a:latin typeface="Arial"/>
              </a:rPr>
              <a:t>Mídia Google/Meta (mix 40/35/15/10), copy e design de performance, comercial consultivo com SLA 5 min e retenção assistida.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4389120"/>
            <a:ext cx="5212080" cy="1645920"/>
          </a:xfrm>
          <a:prstGeom prst="roundRect">
            <a:avLst>
              <a:gd name="adj" fmla="val 8000"/>
            </a:avLst>
          </a:prstGeom>
          <a:solidFill>
            <a:srgbClr val="6B080C"/>
          </a:solidFill>
          <a:ln w="12700">
            <a:solidFill>
              <a:srgbClr val="E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52628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B7F7D0"/>
                </a:solidFill>
                <a:latin typeface="Arial"/>
              </a:rPr>
              <a:t>BONIFICADO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80060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3 réguas de relacionamento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21208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E0E0"/>
                </a:solidFill>
                <a:latin typeface="Arial"/>
              </a:rPr>
              <a:t>Onboarding 90 dias · Frequência/Red Flag · Recuperação de base — sem CRM e sem Social Media.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FFE0E0"/>
                </a:solidFill>
                <a:latin typeface="Arial"/>
              </a:rPr>
              <a:t>SkyFit Imigrantes × V4 · Growth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FFE0E0"/>
                </a:solidFill>
                <a:latin typeface="Arial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1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FFE0E0"/>
                </a:solidFill>
                <a:latin typeface="Arial"/>
              </a:rPr>
              <a:t>ESTRATÉGIA → EXECUÇÃO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Cada frente entra
em um ponto do plano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760720" cy="594360"/>
          </a:xfrm>
          <a:prstGeom prst="roundRect">
            <a:avLst>
              <a:gd name="adj" fmla="val 8000"/>
            </a:avLst>
          </a:prstGeom>
          <a:solidFill>
            <a:srgbClr val="6B080C"/>
          </a:solidFill>
          <a:ln w="12700">
            <a:solidFill>
              <a:srgbClr val="E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5394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Google Search + Meta Conversão + remarketing + testes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96596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FFE0E0"/>
                </a:solidFill>
                <a:latin typeface="Arial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828800"/>
            <a:ext cx="4572000" cy="594360"/>
          </a:xfrm>
          <a:prstGeom prst="roundRect">
            <a:avLst>
              <a:gd name="adj" fmla="val 8000"/>
            </a:avLst>
          </a:prstGeom>
          <a:solidFill>
            <a:srgbClr val="6B080C"/>
          </a:solidFill>
          <a:ln w="12700">
            <a:solidFill>
              <a:srgbClr val="E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1965960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FFE0E0"/>
                </a:solidFill>
                <a:latin typeface="Arial"/>
              </a:rPr>
              <a:t>Gestão de Mídia · Growth · 12 meses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14600"/>
            <a:ext cx="5760720" cy="594360"/>
          </a:xfrm>
          <a:prstGeom prst="roundRect">
            <a:avLst>
              <a:gd name="adj" fmla="val 8000"/>
            </a:avLst>
          </a:prstGeom>
          <a:solidFill>
            <a:srgbClr val="6B080C"/>
          </a:solidFill>
          <a:ln w="12700">
            <a:solidFill>
              <a:srgbClr val="E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5394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Copy e criativos pro ICP 35+ (acolhimento, não queima de preço)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65176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FFE0E0"/>
                </a:solidFill>
                <a:latin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2514600"/>
            <a:ext cx="4572000" cy="594360"/>
          </a:xfrm>
          <a:prstGeom prst="roundRect">
            <a:avLst>
              <a:gd name="adj" fmla="val 8000"/>
            </a:avLst>
          </a:prstGeom>
          <a:solidFill>
            <a:srgbClr val="6B080C"/>
          </a:solidFill>
          <a:ln w="12700">
            <a:solidFill>
              <a:srgbClr val="E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2651760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FFE0E0"/>
                </a:solidFill>
                <a:latin typeface="Arial"/>
              </a:rPr>
              <a:t>Copy + Design · Growth · 12 meses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00400"/>
            <a:ext cx="5760720" cy="594360"/>
          </a:xfrm>
          <a:prstGeom prst="roundRect">
            <a:avLst>
              <a:gd name="adj" fmla="val 8000"/>
            </a:avLst>
          </a:prstGeom>
          <a:solidFill>
            <a:srgbClr val="6B080C"/>
          </a:solidFill>
          <a:ln w="12700">
            <a:solidFill>
              <a:srgbClr val="E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37560"/>
            <a:ext cx="5394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WhatsApp consultivo, SLA 5 min, funil com dono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33756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FFE0E0"/>
                </a:solidFill>
                <a:latin typeface="Arial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3200400"/>
            <a:ext cx="4572000" cy="594360"/>
          </a:xfrm>
          <a:prstGeom prst="roundRect">
            <a:avLst>
              <a:gd name="adj" fmla="val 8000"/>
            </a:avLst>
          </a:prstGeom>
          <a:solidFill>
            <a:srgbClr val="6B080C"/>
          </a:solidFill>
          <a:ln w="12700">
            <a:solidFill>
              <a:srgbClr val="E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3337560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FFE0E0"/>
                </a:solidFill>
                <a:latin typeface="Arial"/>
              </a:rPr>
              <a:t>Processo comercial · no Growth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886200"/>
            <a:ext cx="5760720" cy="594360"/>
          </a:xfrm>
          <a:prstGeom prst="roundRect">
            <a:avLst>
              <a:gd name="adj" fmla="val 8000"/>
            </a:avLst>
          </a:prstGeom>
          <a:solidFill>
            <a:srgbClr val="6B080C"/>
          </a:solidFill>
          <a:ln w="12700">
            <a:solidFill>
              <a:srgbClr val="E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023360"/>
            <a:ext cx="5394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Onboarding 90 dias, CVBA, Red Flag de frequência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02336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FFE0E0"/>
                </a:solidFill>
                <a:latin typeface="Arial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0" y="3886200"/>
            <a:ext cx="4572000" cy="594360"/>
          </a:xfrm>
          <a:prstGeom prst="roundRect">
            <a:avLst>
              <a:gd name="adj" fmla="val 8000"/>
            </a:avLst>
          </a:prstGeom>
          <a:solidFill>
            <a:srgbClr val="6B080C"/>
          </a:solidFill>
          <a:ln w="12700">
            <a:solidFill>
              <a:srgbClr val="E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4023360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FFE0E0"/>
                </a:solidFill>
                <a:latin typeface="Arial"/>
              </a:rPr>
              <a:t>Retenção + 3 réguas · bonificadas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572000"/>
            <a:ext cx="5760720" cy="594360"/>
          </a:xfrm>
          <a:prstGeom prst="roundRect">
            <a:avLst>
              <a:gd name="adj" fmla="val 8000"/>
            </a:avLst>
          </a:prstGeom>
          <a:solidFill>
            <a:srgbClr val="6B080C"/>
          </a:solidFill>
          <a:ln w="12700">
            <a:solidFill>
              <a:srgbClr val="E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709160"/>
            <a:ext cx="5394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Leitura de funil: clique → visita → matrícula → receita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70916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FFE0E0"/>
                </a:solidFill>
                <a:latin typeface="Arial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49440" y="4572000"/>
            <a:ext cx="4572000" cy="594360"/>
          </a:xfrm>
          <a:prstGeom prst="roundRect">
            <a:avLst>
              <a:gd name="adj" fmla="val 8000"/>
            </a:avLst>
          </a:prstGeom>
          <a:solidFill>
            <a:srgbClr val="6B080C"/>
          </a:solidFill>
          <a:ln w="12700">
            <a:solidFill>
              <a:srgbClr val="E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0" y="4709160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FFE0E0"/>
                </a:solidFill>
                <a:latin typeface="Arial"/>
              </a:rPr>
              <a:t>Account · cadência + KPIs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FFE0E0"/>
                </a:solidFill>
                <a:latin typeface="Arial"/>
              </a:rPr>
              <a:t>SkyFit Imigrantes × V4 · Growth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FFE0E0"/>
                </a:solidFill>
                <a:latin typeface="Arial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1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FFE0E0"/>
                </a:solidFill>
                <a:latin typeface="Arial"/>
              </a:rPr>
              <a:t>ESCOPO TANGIBILIZADO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728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O que entra
nesta proposta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486400" cy="3657600"/>
          </a:xfrm>
          <a:prstGeom prst="roundRect">
            <a:avLst>
              <a:gd name="adj" fmla="val 8000"/>
            </a:avLst>
          </a:prstGeom>
          <a:solidFill>
            <a:srgbClr val="6B080C"/>
          </a:solidFill>
          <a:ln w="12700">
            <a:solidFill>
              <a:srgbClr val="E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FFE0E0"/>
                </a:solidFill>
                <a:latin typeface="Arial"/>
              </a:rPr>
              <a:t>GROWTH · 12 MESES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Assessoria de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60320"/>
            <a:ext cx="5029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FFE0E0"/>
                </a:solidFill>
                <a:latin typeface="Arial"/>
              </a:rPr>
              <a:t>·  Account Manager orquestrando com a unidade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E0E0"/>
                </a:solidFill>
                <a:latin typeface="Arial"/>
              </a:rPr>
              <a:t>·  Gestão de Tráfego (Google Ads + Meta Ads)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E0E0"/>
                </a:solidFill>
                <a:latin typeface="Arial"/>
              </a:rPr>
              <a:t>·  Verba de mídia da projeção: R$ 2.500/mês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E0E0"/>
                </a:solidFill>
                <a:latin typeface="Arial"/>
              </a:rPr>
              <a:t>·  Copy de anúncio e WhatsApp (ICP 35+)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E0E0"/>
                </a:solidFill>
                <a:latin typeface="Arial"/>
              </a:rPr>
              <a:t>·  Design de criativos de performance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E0E0"/>
                </a:solidFill>
                <a:latin typeface="Arial"/>
              </a:rPr>
              <a:t>·  Tracking de matrícula até a origem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E0E0"/>
                </a:solidFill>
                <a:latin typeface="Arial"/>
              </a:rPr>
              <a:t>·  Check-ins com CPL, CAC e ROAS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554480"/>
            <a:ext cx="5212080" cy="3657600"/>
          </a:xfrm>
          <a:prstGeom prst="roundRect">
            <a:avLst>
              <a:gd name="adj" fmla="val 8000"/>
            </a:avLst>
          </a:prstGeom>
          <a:solidFill>
            <a:srgbClr val="6B080C"/>
          </a:solidFill>
          <a:ln w="12700">
            <a:solidFill>
              <a:srgbClr val="E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B7F7D0"/>
                </a:solidFill>
                <a:latin typeface="Arial"/>
              </a:rPr>
              <a:t>BONIFICADO NA PARCERIA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05740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3 réguas de relacionamento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56032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FFE0E0"/>
                </a:solidFill>
                <a:latin typeface="Arial"/>
              </a:rPr>
              <a:t>·  Onboarding 90 dias (D0 → hábito)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E0E0"/>
                </a:solidFill>
                <a:latin typeface="Arial"/>
              </a:rPr>
              <a:t>·  Frequência / Red Flag (14 dias sem catraca)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E0E0"/>
                </a:solidFill>
                <a:latin typeface="Arial"/>
              </a:rPr>
              <a:t>·  Recuperação de base (lead + ex-aluno)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E0E0"/>
                </a:solidFill>
                <a:latin typeface="Arial"/>
              </a:rPr>
              <a:t>·  Scripts de venda consultiva + SLA 5 min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E0E0"/>
                </a:solidFill>
                <a:latin typeface="Arial"/>
              </a:rPr>
              <a:t>·  CVBA no discurso de fechamento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FFE0E0"/>
                </a:solidFill>
                <a:latin typeface="Arial"/>
              </a:rPr>
              <a:t>SkyFit Imigrantes × V4 ·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FFE0E0"/>
                </a:solidFill>
                <a:latin typeface="Arial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1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FFE0E0"/>
                </a:solidFill>
                <a:latin typeface="Arial"/>
              </a:rPr>
              <a:t>COMO OPERA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Kickoff, cadência
e accountability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20240"/>
            <a:ext cx="2743200" cy="2011680"/>
          </a:xfrm>
          <a:prstGeom prst="roundRect">
            <a:avLst>
              <a:gd name="adj" fmla="val 8000"/>
            </a:avLst>
          </a:prstGeom>
          <a:solidFill>
            <a:srgbClr val="6B080C"/>
          </a:solidFill>
          <a:ln w="12700">
            <a:solidFill>
              <a:srgbClr val="E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FFE0E0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Kickoff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E0E0"/>
                </a:solidFill>
                <a:latin typeface="Arial"/>
              </a:rPr>
              <a:t>Acessos Ads, processo e briefing das réguas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743200" cy="2011680"/>
          </a:xfrm>
          <a:prstGeom prst="roundRect">
            <a:avLst>
              <a:gd name="adj" fmla="val 8000"/>
            </a:avLst>
          </a:prstGeom>
          <a:solidFill>
            <a:srgbClr val="6B080C"/>
          </a:solidFill>
          <a:ln w="12700">
            <a:solidFill>
              <a:srgbClr val="E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05740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FFE0E0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46888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9260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E0E0"/>
                </a:solidFill>
                <a:latin typeface="Arial"/>
              </a:rPr>
              <a:t>Campanhas + scripts + 3 réguas ligadas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920240"/>
            <a:ext cx="2743200" cy="2011680"/>
          </a:xfrm>
          <a:prstGeom prst="roundRect">
            <a:avLst>
              <a:gd name="adj" fmla="val 8000"/>
            </a:avLst>
          </a:prstGeom>
          <a:solidFill>
            <a:srgbClr val="6B080C"/>
          </a:solidFill>
          <a:ln w="12700">
            <a:solidFill>
              <a:srgbClr val="E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05740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FFE0E0"/>
                </a:solidFill>
                <a:latin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46888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9260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E0E0"/>
                </a:solidFill>
                <a:latin typeface="Arial"/>
              </a:rPr>
              <a:t>Mídia + copy + design em operação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1920240"/>
            <a:ext cx="2743200" cy="2011680"/>
          </a:xfrm>
          <a:prstGeom prst="roundRect">
            <a:avLst>
              <a:gd name="adj" fmla="val 8000"/>
            </a:avLst>
          </a:prstGeom>
          <a:solidFill>
            <a:srgbClr val="6B080C"/>
          </a:solidFill>
          <a:ln w="12700">
            <a:solidFill>
              <a:srgbClr val="E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205740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FFE0E0"/>
                </a:solidFill>
                <a:latin typeface="Arial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46888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Rituais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9260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E0E0"/>
                </a:solidFill>
                <a:latin typeface="Arial"/>
              </a:rPr>
              <a:t>Check-ins de CPL, CAC, ROAS e matrícula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206240"/>
            <a:ext cx="5486400" cy="1737360"/>
          </a:xfrm>
          <a:prstGeom prst="roundRect">
            <a:avLst>
              <a:gd name="adj" fmla="val 8000"/>
            </a:avLst>
          </a:prstGeom>
          <a:solidFill>
            <a:srgbClr val="6B080C"/>
          </a:solidFill>
          <a:ln w="12700">
            <a:solidFill>
              <a:srgbClr val="E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38912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Vigência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8006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E0E0"/>
                </a:solidFill>
                <a:latin typeface="Arial"/>
              </a:rPr>
              <a:t>Assessoria de Growth · 12 meses, com abatimento da EE na condição final. Cadência contínua com a unidade.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4206240"/>
            <a:ext cx="5212080" cy="1737360"/>
          </a:xfrm>
          <a:prstGeom prst="roundRect">
            <a:avLst>
              <a:gd name="adj" fmla="val 8000"/>
            </a:avLst>
          </a:prstGeom>
          <a:solidFill>
            <a:srgbClr val="6B080C"/>
          </a:solidFill>
          <a:ln w="12700">
            <a:solidFill>
              <a:srgbClr val="E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438912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Papel da SkyFit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80060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E0E0"/>
                </a:solidFill>
                <a:latin typeface="Arial"/>
              </a:rPr>
              <a:t>Alinhar Gabriel e a recepção; liberar acessos de mídia; validar criativos e ritmos sem travar a operação da academia.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FFE0E0"/>
                </a:solidFill>
                <a:latin typeface="Arial"/>
              </a:rPr>
              <a:t>SkyFit Imigrantes × V4 · Growth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FFE0E0"/>
                </a:solidFill>
                <a:latin typeface="Arial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1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FFE0E0"/>
                </a:solidFill>
                <a:latin typeface="Arial"/>
              </a:rPr>
              <a:t>INVESTIMENTO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728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Condições comerciais
pós Estruturação Estratégica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669280" cy="4114800"/>
          </a:xfrm>
          <a:prstGeom prst="roundRect">
            <a:avLst>
              <a:gd name="adj" fmla="val 8000"/>
            </a:avLst>
          </a:prstGeom>
          <a:solidFill>
            <a:srgbClr val="1A0506"/>
          </a:solidFill>
          <a:ln w="12700">
            <a:solidFill>
              <a:srgbClr val="E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5212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FFE0E0"/>
                </a:solidFill>
                <a:latin typeface="Arial"/>
              </a:rPr>
              <a:t>EXECUTAR · 12 MESES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5212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Assessoria de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5212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FFE0E0"/>
                </a:solidFill>
                <a:latin typeface="Arial"/>
              </a:rPr>
              <a:t>Account + Copy + Design + GT · SkyFit Imigrantes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5212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CCAAAA"/>
                </a:solidFill>
                <a:latin typeface="Arial"/>
              </a:rPr>
              <a:t>De R$ 8.632,12/mês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80360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strike="sngStrike">
                <a:solidFill>
                  <a:srgbClr val="CCAAAA"/>
                </a:solidFill>
                <a:latin typeface="Arial"/>
              </a:rPr>
              <a:t>De R$ 8.632,12/mês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5212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R$ 4.800,00 /mês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931920"/>
            <a:ext cx="5212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E0E0"/>
                </a:solidFill>
                <a:latin typeface="Arial"/>
              </a:rPr>
              <a:t>EE R$ 20.794 abatida · + descontos de momento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297680"/>
            <a:ext cx="5212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FFE0E0"/>
                </a:solidFill>
                <a:latin typeface="Arial"/>
              </a:rPr>
              <a:t>Referência anual · R$ 57.600,00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754880"/>
            <a:ext cx="5212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FFE0E0"/>
                </a:solidFill>
                <a:latin typeface="Arial"/>
              </a:rPr>
              <a:t>·  Escopo completo do fee tabela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074920"/>
            <a:ext cx="5212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B7F7D0"/>
                </a:solidFill>
                <a:latin typeface="Arial"/>
              </a:rPr>
              <a:t>·  3 réguas de relacionamento · bonificadas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1554480"/>
            <a:ext cx="5029200" cy="3200400"/>
          </a:xfrm>
          <a:prstGeom prst="roundRect">
            <a:avLst>
              <a:gd name="adj" fmla="val 8000"/>
            </a:avLst>
          </a:prstGeom>
          <a:solidFill>
            <a:srgbClr val="6B080C"/>
          </a:solidFill>
          <a:ln w="12700">
            <a:solidFill>
              <a:srgbClr val="E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173736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FFE0E0"/>
                </a:solidFill>
                <a:latin typeface="Arial"/>
              </a:rPr>
              <a:t>COMO CHEGAMOS NO VALOR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574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Reconhecimento da 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65176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FFE0E0"/>
                </a:solidFill>
                <a:latin typeface="Arial"/>
              </a:rPr>
              <a:t>Fee tabela do escopo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65176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R$ 8.632,12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10896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FFE0E0"/>
                </a:solidFill>
                <a:latin typeface="Arial"/>
              </a:rPr>
              <a:t>Investido na EE · abatido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310896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400" b="1">
                <a:solidFill>
                  <a:srgbClr val="B7F7D0"/>
                </a:solidFill>
                <a:latin typeface="Arial"/>
              </a:rPr>
              <a:t>R$ 20.794,00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56616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FFE0E0"/>
                </a:solidFill>
                <a:latin typeface="Arial"/>
              </a:rPr>
              <a:t>Descontos de momento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56616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400" b="1">
                <a:solidFill>
                  <a:srgbClr val="B7F7D0"/>
                </a:solidFill>
                <a:latin typeface="Arial"/>
              </a:rPr>
              <a:t>aplicados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02336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FFE0E0"/>
                </a:solidFill>
                <a:latin typeface="Arial"/>
              </a:rPr>
              <a:t>Condição final / mês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402336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R$ 4.800,00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57200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FFE0E0"/>
                </a:solidFill>
                <a:latin typeface="Arial"/>
              </a:rPr>
              <a:t>Verba de mídia à parte · R$ 2.500/mês (projeção)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498348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6B080C"/>
          </a:solidFill>
          <a:ln w="12700">
            <a:solidFill>
              <a:srgbClr val="E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507492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Próximo passo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53949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FFE0E0"/>
                </a:solidFill>
                <a:latin typeface="Arial"/>
              </a:rPr>
              <a:t>Validar escopo → formalizar → kickoff em até 5 dias úteis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FFE0E0"/>
                </a:solidFill>
                <a:latin typeface="Arial"/>
              </a:rPr>
              <a:t>SkyFit Imigrantes × V4 · Growth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FFE0E0"/>
                </a:solidFill>
                <a:latin typeface="Arial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
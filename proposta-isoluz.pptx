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3D45"/>
                </a:solidFill>
                <a:latin typeface="Calibri"/>
              </a:rPr>
              <a:t>PROPOSTA COMERCIAL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7F7F7"/>
                </a:solidFill>
                <a:latin typeface="Arial"/>
              </a:rPr>
              <a:t>ISOLUZ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3D45"/>
                </a:solidFill>
                <a:latin typeface="Calibri"/>
              </a:rPr>
              <a:t>ORGANIZAR PRA CRESCER.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B7BD"/>
                </a:solidFill>
                <a:latin typeface="Calibri"/>
              </a:rPr>
              <a:t>Vocês já vendem. O risco não é faltar cliente — é crescer bagunçado. Esta proposta organiza comercial, vitrine B2B e Growth no ritmo que a Isoluz aguenta.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371600"/>
            <a:ext cx="4754880" cy="438912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40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5544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ESCOPO DA PROPOSTA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965960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0A0A0C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391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21991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Estruturação Comercial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4414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Processo, CRM, scripts e rotina para o time de vendas da Isoluz.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953512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0A0A0C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302666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20954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E-commerce B2B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429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Implementação em tema com adaptação visual — prazo de 30 dias.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941064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0A0A0C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401421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19709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Assessoria de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4165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Gestor de Tráfego (GT) operando aquisição com método.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50292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Papel da V4: conectar comercial e marketing em uma operação simples, previsível e no controle da Micheline.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C7C84"/>
                </a:solidFill>
                <a:latin typeface="Calibri"/>
              </a:rPr>
              <a:t>Isoluz × V4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C7C84"/>
                </a:solidFill>
                <a:latin typeface="Calibri"/>
              </a:rPr>
              <a:t>1 / 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75720" y="256032"/>
            <a:ext cx="411480" cy="411480"/>
          </a:xfrm>
          <a:prstGeom prst="rect">
            <a:avLst/>
          </a:prstGeom>
          <a:noFill/>
          <a:ln w="19050"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572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7F7F7"/>
                </a:solidFill>
                <a:latin typeface="Calibri"/>
              </a:rPr>
              <a:t>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3D45"/>
                </a:solidFill>
                <a:latin typeface="Calibri"/>
              </a:rPr>
              <a:t>O PONTO DE PARTIDA · O QUE A EE MOSTROU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7F7"/>
                </a:solidFill>
                <a:latin typeface="Calibri"/>
              </a:rPr>
              <a:t>VOCÊS JÁ VENDEM.
FALTA MÁQUINA SIMPLES.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B7BD"/>
                </a:solidFill>
                <a:latin typeface="Calibri"/>
              </a:rPr>
              <a:t>Produto forte, carteira ativa e demanda real. O próximo passo não é “bombar”. É estancar o que vaza e crescer com controle — margem e entrega primeiro.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303520" cy="347472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7C84"/>
                </a:solidFill>
                <a:latin typeface="Calibri"/>
              </a:rPr>
              <a:t>O QUE JÁ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·  Faturamento saudável (~R$ 120 mil/mês)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·  Nicho técnico com diferencial em remanufaturado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·  Meta Ads já gera resultado (operado pela Micheline)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·  WhatsApp como canal principal de conversão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·  3 vendedores ativos + base de indicação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51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7C84"/>
                </a:solidFill>
                <a:latin typeface="Calibri"/>
              </a:rPr>
              <a:t>O QUE AINDA VAZA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·  Sem CRM, pipeline e follow-up padronizado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74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·  Atendimento reativo — sem script por persona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886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·  Meta sem filtro assertivo de CNPJ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97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·  Site e ativos digitais gerando atrito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·  Capacidade limitada: pico já engasgou a entrega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C7C84"/>
                </a:solidFill>
                <a:latin typeface="Calibri"/>
              </a:rPr>
              <a:t>Diagnóstico da 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C7C84"/>
                </a:solidFill>
                <a:latin typeface="Calibri"/>
              </a:rPr>
              <a:t>2 / 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75720" y="256032"/>
            <a:ext cx="411480" cy="411480"/>
          </a:xfrm>
          <a:prstGeom prst="rect">
            <a:avLst/>
          </a:prstGeom>
          <a:noFill/>
          <a:ln w="19050"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7572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7F7F7"/>
                </a:solidFill>
                <a:latin typeface="Calibri"/>
              </a:rPr>
              <a:t>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3D45"/>
                </a:solidFill>
                <a:latin typeface="Calibri"/>
              </a:rPr>
              <a:t>PRODUTO 01 · ESTRUTURAÇÃO COMERCIAL · 45 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7F7"/>
                </a:solidFill>
                <a:latin typeface="Calibri"/>
              </a:rPr>
              <a:t>ESTRUTURAÇÃO COMERCIAL
PARA O TIME QUE JÁ VENDE.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Organizar processo, CRM e rotina dos vendedores da Isoluz — com clareza, sem complexidade e sem terceirizar o fechamento. Prazo de 45 dias para implementações e treinamento.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6949440" cy="141732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TIME E PROCESSO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F7F7"/>
                </a:solidFill>
                <a:latin typeface="Calibri"/>
              </a:rPr>
              <a:t>Papéis, fluxo e cadência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· Mapeamento do time e fluxo  · SDR × closers  · Scripts por persona (Sérgio, Cláudia, Marcos)  · Régua de follow-up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6949440" cy="141732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CRM E CONTROLE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F7F7"/>
                </a:solidFill>
                <a:latin typeface="Calibri"/>
              </a:rPr>
              <a:t>Pipeline simples e rastreável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· CRM leve  · Réguas automáticas  · Motivos de perda e histórico  · KPIs enxutos para a Micheline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Lead com dono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69747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Oportunidade com responsável e próximo passo.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200400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2918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Follow-up no prazo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Nenhum orçamento some sem retorno marcado.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069080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1605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Conversa certa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434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Abordagem por persona.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937760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50292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Visão da dona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Números simples para decidir o ritmo.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C7C84"/>
                </a:solidFill>
                <a:latin typeface="Calibri"/>
              </a:rPr>
              <a:t>Estruturação Comercial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C7C84"/>
                </a:solidFill>
                <a:latin typeface="Calibri"/>
              </a:rPr>
              <a:t>3 / 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75720" y="256032"/>
            <a:ext cx="411480" cy="411480"/>
          </a:xfrm>
          <a:prstGeom prst="rect">
            <a:avLst/>
          </a:prstGeom>
          <a:noFill/>
          <a:ln w="19050"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7572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7F7F7"/>
                </a:solidFill>
                <a:latin typeface="Calibri"/>
              </a:rPr>
              <a:t>V4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3D45"/>
                </a:solidFill>
                <a:latin typeface="Calibri"/>
              </a:rPr>
              <a:t>PRODUTO 02 · E-COMMERCE B2B · TEMA · 30 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7F7"/>
                </a:solidFill>
                <a:latin typeface="Calibri"/>
              </a:rPr>
              <a:t>E-COMMERCE B2B
TEMA COM ADAPTAÇÃO VISUAL.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Loja pronta para o modelo B2B da Isoluz — com tema padrão adaptado visualmente e go-live em 30 dias.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6949440" cy="141732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PLATAFORMA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F7F7"/>
                </a:solidFill>
                <a:latin typeface="Calibri"/>
              </a:rPr>
              <a:t>Implementação e configuração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· Configuração e parametrização
· Parametrização de descontos
· Integração ERP, logística e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6949440" cy="141732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VISUAL E CONVERSÃO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F7F7"/>
                </a:solidFill>
                <a:latin typeface="Calibri"/>
              </a:rPr>
              <a:t>Tema + ativos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· Tema com adaptação visual da Isoluz
· Banners · SEO · GTM e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28600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3957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Rápido e objetivo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670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Sem layout 100% personalizado — velocidade com identidade.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20040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3101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Pronto para B2B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584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Pensado para construtoras, empreiteiras e revendas.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11480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2245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Integrações essenciais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498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ERP, logística e pagamento desde o início.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502920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5138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30 dias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54132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Do kickoff ao go-live com treinamento incluso.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C7C84"/>
                </a:solidFill>
                <a:latin typeface="Calibri"/>
              </a:rPr>
              <a:t>E-commerce B2B · Tema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C7C84"/>
                </a:solidFill>
                <a:latin typeface="Calibri"/>
              </a:rPr>
              <a:t>4 / 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75720" y="256032"/>
            <a:ext cx="411480" cy="411480"/>
          </a:xfrm>
          <a:prstGeom prst="rect">
            <a:avLst/>
          </a:prstGeom>
          <a:noFill/>
          <a:ln w="19050"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7572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7F7F7"/>
                </a:solidFill>
                <a:latin typeface="Calibri"/>
              </a:rPr>
              <a:t>V4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3D45"/>
                </a:solidFill>
                <a:latin typeface="Calibri"/>
              </a:rPr>
              <a:t>PRODUTO 03 · ASSESSORIA DE GROWTH · GT · 12 MESES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7F7"/>
                </a:solidFill>
                <a:latin typeface="Calibri"/>
              </a:rPr>
              <a:t>ASSESSORIA DE GROWTH
GESTOR DE TRÁFEGO (GT).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Mídia paga com cadência definida — para atrair o CNPJ certo e pulverizar regiões no ritmo da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6949440" cy="137160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GESTOR DE TRÁFEGO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F7F7"/>
                </a:solidFill>
                <a:latin typeface="Calibri"/>
              </a:rPr>
              <a:t>Mídia paga com filtro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Meta com segmentação assertiva de CNPJ + Google de intenção, sem agressividade que estoure a operação.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6949440" cy="192024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O QUE O GT OPERA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· Estrutura e gestão de campanhas no Meta e 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· Segmentação por CNPJ e região prioritária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· Testes de criativo, público e abordagem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· Otimização semanal de lances e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28600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Atendimento diário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670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Tarefas, pendências e resultados do 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20040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33101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Check-in de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584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Resultados, análise e próximos passos.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11480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42245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Planejamento trimestral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498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Budget, prioridades e aprendizados.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502920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5138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7F7"/>
                </a:solidFill>
                <a:latin typeface="Calibri"/>
              </a:rPr>
              <a:t>Growths e retrospectivas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4132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B7BD"/>
                </a:solidFill>
                <a:latin typeface="Calibri"/>
              </a:rPr>
              <a:t>Rituais de dados, tráfego e funil.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C7C84"/>
                </a:solidFill>
                <a:latin typeface="Calibri"/>
              </a:rPr>
              <a:t>Assessoria de Growth · GT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C7C84"/>
                </a:solidFill>
                <a:latin typeface="Calibri"/>
              </a:rPr>
              <a:t>5 / 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75720" y="256032"/>
            <a:ext cx="411480" cy="411480"/>
          </a:xfrm>
          <a:prstGeom prst="rect">
            <a:avLst/>
          </a:prstGeom>
          <a:noFill/>
          <a:ln w="19050"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7F7F7"/>
                </a:solidFill>
                <a:latin typeface="Calibri"/>
              </a:rPr>
              <a:t>V4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3D45"/>
                </a:solidFill>
                <a:latin typeface="Calibri"/>
              </a:rPr>
              <a:t>ÂNCORA DE MERCADO · MONTAR SOZINHO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7F7"/>
                </a:solidFill>
                <a:latin typeface="Calibri"/>
              </a:rPr>
              <a:t>QUANTO CUSTARIA MONTAR
ESSE ESCOPO POR CONTA PRÓPRIA.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Referência de mercado para especialização equivalente (salários + encargos + gestão + ferramentas), sem contar tempo de contratação e risco de erro.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1064240" cy="356616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PROJETOS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07208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Estruturação Comercial (processo + CRM + treinamento)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8072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7F7F7"/>
                </a:solidFill>
                <a:latin typeface="Calibri"/>
              </a:rPr>
              <a:t>R$ 18.000 a R$ 25.000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9125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E-commerce B2B (tema + integrações + SEO)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1912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7F7F7"/>
                </a:solidFill>
                <a:latin typeface="Calibri"/>
              </a:rPr>
              <a:t>R$ 8.000 a R$ 15.000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75303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D45"/>
                </a:solidFill>
                <a:latin typeface="Calibri"/>
              </a:rPr>
              <a:t>ASSESSORIA DE GROWTH ·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59352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Gestão de Tráfego (Google + Meta)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9593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7F7F7"/>
                </a:solidFill>
                <a:latin typeface="Calibri"/>
              </a:rPr>
              <a:t>R$ 8.000 a R$ 12.000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Ferramentas (ads + stack)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434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7F7F7"/>
                </a:solidFill>
                <a:latin typeface="Calibri"/>
              </a:rPr>
              <a:t>R$ 1.000 a R$ 2.000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27448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7B7BD"/>
                </a:solidFill>
                <a:latin typeface="Calibri"/>
              </a:rPr>
              <a:t>Total estimado GT / 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7274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0D27A"/>
                </a:solidFill>
                <a:latin typeface="Calibri"/>
              </a:rPr>
              <a:t>R$ 9.000 a R$ 14.000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A V4 entrega o escopo completo — comercial, e-commerce e Growth — com método, cadência e a EE já trabalhando a favor da Isoluz.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C7C84"/>
                </a:solidFill>
                <a:latin typeface="Calibri"/>
              </a:rPr>
              <a:t>Preço de mercado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C7C84"/>
                </a:solidFill>
                <a:latin typeface="Calibri"/>
              </a:rPr>
              <a:t>6 / 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75720" y="256032"/>
            <a:ext cx="411480" cy="411480"/>
          </a:xfrm>
          <a:prstGeom prst="rect">
            <a:avLst/>
          </a:prstGeom>
          <a:noFill/>
          <a:ln w="19050"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7572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7F7F7"/>
                </a:solidFill>
                <a:latin typeface="Calibri"/>
              </a:rPr>
              <a:t>V4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3D45"/>
                </a:solidFill>
                <a:latin typeface="Calibri"/>
              </a:rPr>
              <a:t>INVESTIMENTO · TRÊS SOLUÇÕES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7F7"/>
                </a:solidFill>
                <a:latin typeface="Calibri"/>
              </a:rPr>
              <a:t>TRÊS CONDIÇÕES PARA
COMEÇAR A OPERAR.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B7BD"/>
                </a:solidFill>
                <a:latin typeface="Calibri"/>
              </a:rPr>
              <a:t>Estruturação Comercial + E-commerce B2B + Assessoria de Growth para a Isoluz.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7F7"/>
                </a:solidFill>
                <a:latin typeface="Calibri"/>
              </a:rPr>
              <a:t>Estruturação Comercial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Projeto · 45 dias.
Processo · CRM · scripts · treinamento.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D27A"/>
                </a:solidFill>
                <a:latin typeface="Consolas"/>
              </a:rPr>
              <a:t>12× R$ 960,53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C7C84"/>
                </a:solidFill>
                <a:latin typeface="Calibri"/>
              </a:rPr>
              <a:t>Total R$ 11.526,32 · 12 vezes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2560320" cy="3200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0D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64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0D27A"/>
                </a:solidFill>
                <a:latin typeface="Calibri"/>
              </a:rPr>
              <a:t>PRODUTO 01 · PROJETO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8600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40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7F7"/>
                </a:solidFill>
                <a:latin typeface="Calibri"/>
              </a:rPr>
              <a:t>E-commerce B2B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Tema com adaptação visual · 30 dias.
Integrações · SEO · treinamento.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7F7F7"/>
                </a:solidFill>
                <a:latin typeface="Consolas"/>
              </a:rPr>
              <a:t>12× R$ 333,33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C7C84"/>
                </a:solidFill>
                <a:latin typeface="Calibri"/>
              </a:rPr>
              <a:t>Total R$ 4.000,00 · 12 vezes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846320"/>
            <a:ext cx="2560320" cy="3200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0D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864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0D27A"/>
                </a:solidFill>
                <a:latin typeface="Calibri"/>
              </a:rPr>
              <a:t>PRODUTO 02 · PROJETO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28600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5875">
            <a:solidFill>
              <a:srgbClr val="40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468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7F7"/>
                </a:solidFill>
                <a:latin typeface="Calibri"/>
              </a:rPr>
              <a:t>Assessoria de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260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B7BD"/>
                </a:solidFill>
                <a:latin typeface="Calibri"/>
              </a:rPr>
              <a:t>Operação recorrente por 12 meses.
Gestor de Tráfego (GT).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033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7F7F7"/>
                </a:solidFill>
                <a:latin typeface="Consolas"/>
              </a:rPr>
              <a:t>12× R$ 2.569,91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1605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C7C84"/>
                </a:solidFill>
                <a:latin typeface="Calibri"/>
              </a:rPr>
              <a:t>Condição especial · 12 vezes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846320"/>
            <a:ext cx="2560320" cy="3200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DC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864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DCE8A"/>
                </a:solidFill>
                <a:latin typeface="Calibri"/>
              </a:rPr>
              <a:t>PRODUTO 03 · RECORRENTE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69280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7C84"/>
                </a:solidFill>
                <a:latin typeface="Calibri"/>
              </a:rPr>
              <a:t>CONDIÇÕES COMERCIAIS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760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7F7F7"/>
                </a:solidFill>
                <a:latin typeface="Consolas"/>
              </a:rPr>
              <a:t>As três juntas: ~R$ 3.863,77 /mês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C7C84"/>
                </a:solidFill>
                <a:latin typeface="Calibri"/>
              </a:rPr>
              <a:t>Investimento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C7C84"/>
                </a:solidFill>
                <a:latin typeface="Calibri"/>
              </a:rPr>
              <a:t>7 / 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75720" y="256032"/>
            <a:ext cx="411480" cy="411480"/>
          </a:xfrm>
          <a:prstGeom prst="rect">
            <a:avLst/>
          </a:prstGeom>
          <a:noFill/>
          <a:ln w="19050"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7572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7F7F7"/>
                </a:solidFill>
                <a:latin typeface="Calibri"/>
              </a:rPr>
              <a:t>V4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
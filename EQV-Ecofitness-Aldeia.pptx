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0000"/>
                </a:solidFill>
                <a:latin typeface="Arial"/>
              </a:rPr>
              <a:t>V4 COMPANY APRESENTA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EMPRESA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C0000"/>
                </a:solidFill>
                <a:latin typeface="Arial"/>
              </a:rPr>
              <a:t>QUE VENDE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2C2C2"/>
                </a:solidFill>
                <a:latin typeface="Arial"/>
              </a:rPr>
              <a:t>Estrutura o negócio. Treina o time. Acompanha a execução.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297680"/>
            <a:ext cx="3931920" cy="502920"/>
          </a:xfrm>
          <a:prstGeom prst="roundRect">
            <a:avLst/>
          </a:prstGeom>
          <a:solidFill>
            <a:srgbClr val="2A0A0A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43708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ECOFITNESS ALDEIA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2C2C2"/>
                </a:solidFill>
                <a:latin typeface="Arial"/>
              </a:rPr>
              <a:t>V4 COMPANY  ·  EMPRESA QUE VENDE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Arial"/>
              </a:rPr>
              <a:t>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9144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Você trabalha muito.
Mas a receita ainda não é previsível.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2C2C2"/>
                </a:solidFill>
                <a:latin typeface="Arial"/>
              </a:rPr>
              <a:t>Vendas oscilam todo mês — sem processo, sem previsibilidade.</a:t>
            </a:r>
          </a:p>
          <a:p>
            <a:pPr algn="l"/>
            <a:r>
              <a:rPr sz="1600" b="0">
                <a:solidFill>
                  <a:srgbClr val="C2C2C2"/>
                </a:solidFill>
                <a:latin typeface="Arial"/>
              </a:rPr>
              <a:t>Quando o melhor vendedor sai, o processo some com ele.</a:t>
            </a:r>
          </a:p>
          <a:p>
            <a:pPr algn="l"/>
            <a:r>
              <a:rPr sz="1600" b="0">
                <a:solidFill>
                  <a:srgbClr val="C2C2C2"/>
                </a:solidFill>
                <a:latin typeface="Arial"/>
              </a:rPr>
              <a:t>A agência executa por você — e o crescimento para quando o contrato termina.</a:t>
            </a:r>
          </a:p>
          <a:p>
            <a:pPr algn="l"/>
            <a:r>
              <a:rPr sz="1600" b="0">
                <a:solidFill>
                  <a:srgbClr val="C2C2C2"/>
                </a:solidFill>
                <a:latin typeface="Arial"/>
              </a:rPr>
              <a:t/>
            </a:r>
          </a:p>
          <a:p>
            <a:pPr algn="l"/>
            <a:r>
              <a:rPr sz="1600" b="0">
                <a:solidFill>
                  <a:srgbClr val="C2C2C2"/>
                </a:solidFill>
                <a:latin typeface="Arial"/>
              </a:rPr>
              <a:t>Este é o empresário que o Empresa que Vende foi criado para atender.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PARA QUEM 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O perfil do cliente ideal do Empresa que Vende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103120" cy="32004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Arial"/>
              </a:rPr>
              <a:t>PORTE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688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Tiny e Small
até 50 funcionários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828800"/>
            <a:ext cx="2103120" cy="32004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Arial"/>
              </a:rPr>
              <a:t>FATURAMENTO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4688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R$ 600K – R$ 2,4M
anuais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28800"/>
            <a:ext cx="2103120" cy="32004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Arial"/>
              </a:rPr>
              <a:t>MERCADO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4688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B2C · academias
/ fitness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2103120" cy="32004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Arial"/>
              </a:rPr>
              <a:t>CANAL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4688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PDV · Inside Sales
WhatsApp · Meta 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828800"/>
            <a:ext cx="2103120" cy="32004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3836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  <a:latin typeface="Arial"/>
              </a:rPr>
              <a:t>MATURIDADE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8360" y="2468880"/>
            <a:ext cx="1828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Baixo a médio
N1 ou N2 no diagnóstico V4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O QUE ESTÁ ERRADO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Por que as soluções tradicionais não resolvem o problema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66160" cy="36576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Arial"/>
              </a:rPr>
              <a:t>AGÊNCIA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Executa por você.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Quando o contrato termina, o resultado vai junto. Você nunca aprendeu a operar a máquina.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554480"/>
            <a:ext cx="3566160" cy="36576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Arial"/>
              </a:rPr>
              <a:t>CURSO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Ensina teoria.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926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Sem aplicação no seu negócio real. O playbook fica na gaveta e nada muda na prática.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54480"/>
            <a:ext cx="3566160" cy="36576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373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Arial"/>
              </a:rPr>
              <a:t>CONSULTORIA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1945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Diagnostica.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Entrega um relatório detalhado. Ninguém implementa. O problema continua exatamente onde estava.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Resultado: o empresário continua sem máquina de vendas previsível.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Arial"/>
              </a:rPr>
              <a:t>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Empresa que Vende não executa para você.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rial"/>
              </a:rPr>
              <a:t>Estrutura o negócio. Treina o time. Acompanha a execução.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2C2C2"/>
                </a:solidFill>
                <a:latin typeface="Arial"/>
              </a:rPr>
              <a:t>Quem faz é o cliente. É exatamente por isso que funciona.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NPS 55+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Arial"/>
              </a:rPr>
              <a:t>vs. 35 das agências tradicionais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6 meses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Arial"/>
              </a:rPr>
              <a:t>de acompanhamento contínuo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114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4 squads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Arial"/>
              </a:rPr>
              <a:t>especializados no seu negócio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O PROGRAMA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5 pilares que compõem o Empresa que Vende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54480"/>
            <a:ext cx="2194560" cy="4206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Diagnóstico Contínuo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Maturidade GTM monitorada. Gargalos identificados a cada ciclo.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554480"/>
            <a:ext cx="2194560" cy="4206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Consultoria Estratégica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3832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1h/mês com consultor V4: prioridades e créditos do squad.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79" y="1554480"/>
            <a:ext cx="2194560" cy="4206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39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39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Execução Assistida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33832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Squad: Conteúdo, Mídia Paga, Comercial e CRM.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1554480"/>
            <a:ext cx="2194560" cy="4206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Comunidade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33832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Peers do segmento e lives mensais temáticas.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19" y="1554480"/>
            <a:ext cx="2194560" cy="4206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79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9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Fábrica de Receita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9" y="3383280"/>
            <a:ext cx="1920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Imersão presencial: hot seats, cases e workshops.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EXECUÇÃO ASSISTIDA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0000"/>
                </a:solidFill>
                <a:latin typeface="Arial"/>
              </a:rPr>
              <a:t>Incluso no EQV: LP · Tracking · WhatsApp (MQL → SQL → Vendas)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2788920" cy="493776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CONTEÚDO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Roteiro de vídeo viral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Briefing de posts Instagram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Suporte à produção e publicação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280160"/>
            <a:ext cx="2788920" cy="493776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MÍDIA PAGA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116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Gestão Meta / Google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Segmentação, pixel, dados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Decisão por ROAS e CPL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Tracking + rastreamento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Implementação de Landing Page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280160"/>
            <a:ext cx="2788920" cy="493776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COMERCIAL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Revisão de scripts + objeções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Role play com vendedores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Réguas de follow-up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280160"/>
            <a:ext cx="2788920" cy="493776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4630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CRM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011680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CRM ativo e manutenção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Cadências e automações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Pipeline e conversão</a:t>
            </a:r>
          </a:p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Tracking WhatsApp (MQL → SQL → Vendas)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A JORNADA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5 fases em 6 meses — ciclo contínuo de crescimento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54480"/>
            <a:ext cx="2194560" cy="393192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2C2C2"/>
                </a:solidFill>
                <a:latin typeface="Arial"/>
              </a:rPr>
              <a:t>MÊS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Onboarding + Diagnóstico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Kickoff, GTM, LP, tracking e prioridades.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1554480"/>
            <a:ext cx="2194560" cy="393192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2C2C2"/>
                </a:solidFill>
                <a:latin typeface="Arial"/>
              </a:rPr>
              <a:t>MÊS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EE Completa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34747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3P-IA, posicionamento e canal ativo.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79" y="1554480"/>
            <a:ext cx="2194560" cy="393192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39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2C2C2"/>
                </a:solidFill>
                <a:latin typeface="Arial"/>
              </a:rPr>
              <a:t>MÊS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39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Consultoria + Conteúdo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39" y="34747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Produção assistida + consultoria mensal.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199" y="1554480"/>
            <a:ext cx="2194560" cy="393192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2C2C2"/>
                </a:solidFill>
                <a:latin typeface="Arial"/>
              </a:rPr>
              <a:t>MÊS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Mídia +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59" y="34747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Campanhas, pixel, tracking e otimização.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19" y="1554480"/>
            <a:ext cx="2194560" cy="393192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79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2C2C2"/>
                </a:solidFill>
                <a:latin typeface="Arial"/>
              </a:rPr>
              <a:t>MÊS 5/6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9" y="22860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Comercial + CRM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9" y="347472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Scripts, follow-up, pipeline WhatsApp.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AO LONGO DO PROGRAMA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86400" cy="1920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COMUNIDADE PRIVADA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Peers do mesmo segmento. Troca de experiências e networking qualificado.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486400" cy="1920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MENTORIAS COLETIVAS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Lives mensais temáticas com aplicação direta no negócio.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66160"/>
            <a:ext cx="5486400" cy="1920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PLATAFORMA DE CONTEÚDO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Trilhas, templates e playbooks por especialidade e fase.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66160"/>
            <a:ext cx="5486400" cy="1920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Arial"/>
              </a:rPr>
              <a:t>FÁBRICA DE RECEITA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Imersão presencial: hot seats, cases e workshops.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INVESTIMENTO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Política de preço — Ecofitness Aldeia (formato semestral)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669280" cy="420624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Estruturação Estratégica (EE)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Arial"/>
              </a:rPr>
              <a:t>R$ 15.174,00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Cashback EE na compra do EQV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C0000"/>
                </a:solidFill>
                <a:latin typeface="Arial"/>
              </a:rPr>
              <a:t>– R$ 15.174,00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2C2C2"/>
                </a:solidFill>
                <a:latin typeface="Arial"/>
              </a:rPr>
              <a:t>Empresa que Vende (semestral)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Arial"/>
              </a:rPr>
              <a:t>R$ 35.174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5488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Arial"/>
              </a:rPr>
              <a:t>LP · Tracking · WhatsApp já inclusos nos entregáveis — sem linha de preço separada.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63040"/>
            <a:ext cx="5029200" cy="18288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6459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À VISTA (COM CASHBACK EE)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10312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rial"/>
              </a:rPr>
              <a:t>R$ 20.000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8346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EQV R$ 35.174 − cashback EE R$ 15.174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566160"/>
            <a:ext cx="5029200" cy="1828800"/>
          </a:xfrm>
          <a:prstGeom prst="roundRect">
            <a:avLst/>
          </a:prstGeom>
          <a:solidFill>
            <a:srgbClr val="1F1F1F"/>
          </a:solidFill>
          <a:ln>
            <a:solidFill>
              <a:srgbClr val="4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794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2C2C2"/>
                </a:solidFill>
                <a:latin typeface="Arial"/>
              </a:rPr>
              <a:t>PARCELADO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2062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6x R$ 3.333,33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920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2C2C2"/>
                </a:solidFill>
                <a:latin typeface="Arial"/>
              </a:rPr>
              <a:t>Total R$ 20.000 · entregáveis inclusos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828800" y="-1371600"/>
            <a:ext cx="4572000" cy="45720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3657600"/>
            <a:ext cx="4114800" cy="4114800"/>
          </a:xfrm>
          <a:prstGeom prst="ellipse">
            <a:avLst/>
          </a:prstGeom>
          <a:solidFill>
            <a:srgbClr val="3C09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PRÓXIMO
PASSO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2C2C2"/>
                </a:solidFill>
                <a:latin typeface="Arial"/>
              </a:rPr>
              <a:t>Qualifique a Ecofitness Aldeia para o Empresa que Vende.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5029200" cy="1280160"/>
          </a:xfrm>
          <a:prstGeom prst="roundRect">
            <a:avLst/>
          </a:prstGeom>
          <a:solidFill>
            <a:srgbClr val="2A0A0A"/>
          </a:solidFill>
          <a:ln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805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rial"/>
              </a:rPr>
              <a:t>Fale com um especialista 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2C2C2"/>
                </a:solidFill>
                <a:latin typeface="Arial"/>
              </a:rPr>
              <a:t>v4.empresaquevende.com.br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2C2C2"/>
                </a:solidFill>
                <a:latin typeface="Arial"/>
              </a:rPr>
              <a:t>V4 COMPANY  ·  ECOFITNESS ALDEIA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
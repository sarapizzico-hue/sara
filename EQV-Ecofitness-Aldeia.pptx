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-1645920"/>
            <a:ext cx="5943600" cy="5943600"/>
          </a:xfrm>
          <a:prstGeom prst="ellipse">
            <a:avLst/>
          </a:prstGeom>
          <a:solidFill>
            <a:srgbClr val="CC0000">
              <a:alpha val="25000"/>
            </a:srgbClr>
          </a:solidFill>
          <a:ln w="12700">
            <a:solidFill>
              <a:srgbClr val="CC0000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286000" y="2286000"/>
            <a:ext cx="4572000" cy="4572000"/>
          </a:xfrm>
          <a:prstGeom prst="ellipse">
            <a:avLst/>
          </a:prstGeom>
          <a:solidFill>
            <a:srgbClr val="CC0000">
              <a:alpha val="15000"/>
            </a:srgbClr>
          </a:solidFill>
          <a:ln w="12700">
            <a:solidFill>
              <a:srgbClr val="CC0000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COMPANY APRESENTA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VENDE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1371600" y="37947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o negócio. Treina o time. Acompanha a execução.</a:t>
            </a:r>
            <a:endParaRPr lang="en-US" sz="1400" dirty="0"/>
          </a:p>
          <a:p>
            <a:r>
              <a:t>Proposta · Ecofitness Aldeia</a:t>
            </a:r>
          </a:p>
        </p:txBody>
      </p:sp>
      <p:sp>
        <p:nvSpPr>
          <p:cNvPr id="8" name="Text 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COMPANY  ·  ECOFITNESS ALDEIA  · 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6576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14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trabalha muito.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a receita ainda não é previsível.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128016" cy="128016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50545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Vendas oscilam todo mês — sem processo, sem previsibilidade.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128016" cy="128016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21868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melhor vendedor sai, o processo some com ele.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4005072"/>
            <a:ext cx="128016" cy="128016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931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agência executa por você — e o crescimento para quando o contrato termina.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é o empresário que o Empresa que Vende foi criado para atender.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É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perfil do cliente ideal do Empresa que Vende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20040" y="14813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901952"/>
            <a:ext cx="214884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20040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e Small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50 funcionários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00400" y="137160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14813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FATURAMENTO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901952"/>
            <a:ext cx="214884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200400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R$ 600K – R$ 2,4M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anuais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80760" y="137160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80760" y="14813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1901952"/>
            <a:ext cx="214884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080760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com operação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vendas ativa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333756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1A0000"/>
          </a:solidFill>
          <a:ln w="12700">
            <a:solidFill>
              <a:srgbClr val="3D000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41832" y="3456432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VENDAS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1832" y="384048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PDV · Inside Sales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· Meta Ads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74920" y="333756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1A0000"/>
          </a:solidFill>
          <a:ln w="12700">
            <a:solidFill>
              <a:srgbClr val="3D000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239512" y="3456432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DE MATURIDADE GTM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239512" y="384048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Baixo a médio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ou N2 no diagnóstico V4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ESTÁ ERRADO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as soluções tradicionais não resolvem o problema real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47472" y="1371600"/>
            <a:ext cx="2697480" cy="3337560"/>
          </a:xfrm>
          <a:prstGeom prst="roundRect">
            <a:avLst>
              <a:gd name="adj" fmla="val 406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463040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2A0000"/>
          </a:solidFill>
          <a:ln w="12700">
            <a:solidFill>
              <a:srgbClr val="55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630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AGÊNCIA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12064" y="1965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 por você.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2606040"/>
            <a:ext cx="237744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269748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contrato termina, o resultado vai junto. Você nunca aprendeu a operar a máquina.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27832" y="1371600"/>
            <a:ext cx="2697480" cy="3337560"/>
          </a:xfrm>
          <a:prstGeom prst="roundRect">
            <a:avLst>
              <a:gd name="adj" fmla="val 406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85032" y="1463040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2A0000"/>
          </a:solidFill>
          <a:ln w="12700">
            <a:solidFill>
              <a:srgbClr val="55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85032" y="14630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92424" y="1965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Ensina teoria.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392424" y="2606040"/>
            <a:ext cx="237744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92424" y="269748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aplicação no seu negócio real. O playbook fica na gaveta e nada muda na prática.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08192" y="1371600"/>
            <a:ext cx="2697480" cy="3337560"/>
          </a:xfrm>
          <a:prstGeom prst="roundRect">
            <a:avLst>
              <a:gd name="adj" fmla="val 406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65392" y="1463040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2A0000"/>
          </a:solidFill>
          <a:ln w="12700">
            <a:solidFill>
              <a:srgbClr val="55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14630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72784" y="1965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Diagnostica.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72784" y="2606040"/>
            <a:ext cx="237744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2784" y="269748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um relatório detalhado. Ninguém implementa. O problema continua exatamente onde estava.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o empresário continua sem máquina de vendas previsível.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0"/>
            <a:ext cx="7315200" cy="5486400"/>
          </a:xfrm>
          <a:prstGeom prst="ellipse">
            <a:avLst/>
          </a:prstGeom>
          <a:solidFill>
            <a:srgbClr val="CC0000">
              <a:alpha val="12000"/>
            </a:srgbClr>
          </a:solidFill>
          <a:ln w="12700">
            <a:solidFill>
              <a:srgbClr val="CC0000">
                <a:alpha val="12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74320"/>
            <a:ext cx="9144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rgbClr val="1A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que Vende</a:t>
            </a:r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não executa para você.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o negócio. Treina o time. Acompanha a execução.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faz é o cliente.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exatamente por isso que funciona.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190000"/>
          </a:solidFill>
          <a:ln w="12700">
            <a:solidFill>
              <a:srgbClr val="3D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3101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55+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400507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35 das agências tradicionais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32004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190000"/>
          </a:solidFill>
          <a:ln w="12700">
            <a:solidFill>
              <a:srgbClr val="3D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33101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337560" y="400507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acompanhamento contínuo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2004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190000"/>
          </a:solidFill>
          <a:ln w="12700">
            <a:solidFill>
              <a:srgbClr val="3D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33101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squads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217920" y="400507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especializados no seu negócio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PROGRAMA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pilares que compõem o Empresa que Vende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2606040" cy="1645920"/>
          </a:xfrm>
          <a:prstGeom prst="roundRect">
            <a:avLst>
              <a:gd name="adj" fmla="val 666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347472" cy="34747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50876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Contínuo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" y="22402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Maturidade GTM monitorada. Gargalos identificados a cada ciclo — sem achismo.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2606040" cy="1645920"/>
          </a:xfrm>
          <a:prstGeom prst="roundRect">
            <a:avLst>
              <a:gd name="adj" fmla="val 666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83280" y="1508760"/>
            <a:ext cx="347472" cy="34747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150876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10712" y="22402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1h/mês com consultor V4: define prioridades e aloca os créditos do squad.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371600"/>
            <a:ext cx="2606040" cy="1645920"/>
          </a:xfrm>
          <a:prstGeom prst="roundRect">
            <a:avLst>
              <a:gd name="adj" fmla="val 666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0" y="1508760"/>
            <a:ext cx="347472" cy="34747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66560" y="150876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Assistida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36792" y="22402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de 4 especialistas: Conteúdo, Mídia Paga, Comercial e CRM.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783080" y="3200400"/>
            <a:ext cx="2606040" cy="1645920"/>
          </a:xfrm>
          <a:prstGeom prst="roundRect">
            <a:avLst>
              <a:gd name="adj" fmla="val 666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920240" y="3337560"/>
            <a:ext cx="347472" cy="34747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2024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377440" y="333756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947672" y="40690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Peers do mesmo segmento e lives mensais temáticas alinhadas ao calendário.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200400"/>
            <a:ext cx="2606040" cy="1645920"/>
          </a:xfrm>
          <a:prstGeom prst="roundRect">
            <a:avLst>
              <a:gd name="adj" fmla="val 666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3337560"/>
            <a:ext cx="347472" cy="34747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03520" y="333756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Fábrica de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873752" y="40690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Imersão presencial: hot seats, cases reais e workshops práticos com a V4.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ASSISTIDA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consultor V4 (1h/mês) define as prioridades e distribui as horas entre os 4 especialistas do squad.</a:t>
            </a:r>
            <a:endParaRPr lang="en-US" sz="1300" dirty="0"/>
          </a:p>
          <a:p>
            <a:r>
              <a:t>Incluso: LP · Tracking · WhatsApp (MQL → SQL → Vendas).</a:t>
            </a:r>
          </a:p>
        </p:txBody>
      </p:sp>
      <p:sp>
        <p:nvSpPr>
          <p:cNvPr id="4" name="Shape 2"/>
          <p:cNvSpPr/>
          <p:nvPr/>
        </p:nvSpPr>
        <p:spPr>
          <a:xfrm>
            <a:off x="320040" y="1417320"/>
            <a:ext cx="4114800" cy="1664208"/>
          </a:xfrm>
          <a:prstGeom prst="roundRect">
            <a:avLst>
              <a:gd name="adj" fmla="val 6593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84632" y="1600200"/>
            <a:ext cx="438912" cy="43891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69848" y="16002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69848" y="20391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 de vídeo viral calibrado ao negócio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de posts Instagram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à produção e publicação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1417320"/>
            <a:ext cx="4114800" cy="1664208"/>
          </a:xfrm>
          <a:prstGeom prst="roundRect">
            <a:avLst>
              <a:gd name="adj" fmla="val 6593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873752" y="1600200"/>
            <a:ext cx="438912" cy="43891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58968" y="16002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 PAGA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58968" y="20391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campanhas Meta / Google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Segmentação, pixel, leitura de dados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por ROAS e CPL</a:t>
            </a:r>
            <a:endParaRPr lang="en-US" sz="1100" dirty="0"/>
          </a:p>
          <a:p>
            <a:r>
              <a:t>Tracking + rastreamento</a:t>
            </a:r>
          </a:p>
          <a:p>
            <a:r>
              <a:t>Implementação de Landing Page</a:t>
            </a:r>
          </a:p>
        </p:txBody>
      </p:sp>
      <p:sp>
        <p:nvSpPr>
          <p:cNvPr id="12" name="Shape 10"/>
          <p:cNvSpPr/>
          <p:nvPr/>
        </p:nvSpPr>
        <p:spPr>
          <a:xfrm>
            <a:off x="320040" y="3246120"/>
            <a:ext cx="4114800" cy="1664208"/>
          </a:xfrm>
          <a:prstGeom prst="roundRect">
            <a:avLst>
              <a:gd name="adj" fmla="val 6593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84632" y="3429000"/>
            <a:ext cx="438912" cy="43891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69848" y="34290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" y="38679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de scripts + análise de objeções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play com vendedores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das réguas de follow-up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3246120"/>
            <a:ext cx="4114800" cy="1664208"/>
          </a:xfrm>
          <a:prstGeom prst="roundRect">
            <a:avLst>
              <a:gd name="adj" fmla="val 6593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73752" y="3429000"/>
            <a:ext cx="438912" cy="43891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58968" y="34290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58968" y="38679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 e manutenção do CRM ativo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Fluxos de cadência e automações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do pipeline e conversão</a:t>
            </a:r>
            <a:endParaRPr lang="en-US" sz="1100" dirty="0"/>
          </a:p>
          <a:p>
            <a:r>
              <a:t>Tracking WhatsApp (MQL → SQL → Vendas)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JORNADA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fases em 6 meses — ciclo contínuo de crescimento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2057400"/>
            <a:ext cx="8412480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50392" y="160020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MÊS 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950976" y="1892808"/>
            <a:ext cx="347472" cy="347472"/>
          </a:xfrm>
          <a:prstGeom prst="ellipse">
            <a:avLst/>
          </a:prstGeom>
          <a:solidFill>
            <a:srgbClr val="AA0000"/>
          </a:solidFill>
          <a:ln w="12700">
            <a:solidFill>
              <a:srgbClr val="AA000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50976" y="1892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" y="2377440"/>
            <a:ext cx="1609344" cy="2514600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38912" y="2450592"/>
            <a:ext cx="1426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Diagnóstico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8912" y="3154680"/>
            <a:ext cx="14264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Kickoff, maturidade GTM,</a:t>
            </a:r>
            <a:endParaRPr lang="en-US" sz="1000" dirty="0"/>
          </a:p>
          <a:p>
            <a:r>
              <a:t>LP, tracking e prioridades</a:t>
            </a:r>
          </a:p>
          <a:p>
            <a:r>
              <a:t>do ciclo.</a:t>
            </a:r>
          </a:p>
        </p:txBody>
      </p:sp>
      <p:sp>
        <p:nvSpPr>
          <p:cNvPr id="11" name="Text 9"/>
          <p:cNvSpPr/>
          <p:nvPr/>
        </p:nvSpPr>
        <p:spPr>
          <a:xfrm>
            <a:off x="2551176" y="160020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MÊS 2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651760" y="1892808"/>
            <a:ext cx="347472" cy="347472"/>
          </a:xfrm>
          <a:prstGeom prst="ellipse">
            <a:avLst/>
          </a:prstGeom>
          <a:solidFill>
            <a:srgbClr val="BB1111"/>
          </a:solidFill>
          <a:ln w="12700">
            <a:solidFill>
              <a:srgbClr val="BB111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651760" y="1892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48256" y="2377440"/>
            <a:ext cx="1609344" cy="2514600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139696" y="2450592"/>
            <a:ext cx="1426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39696" y="3154680"/>
            <a:ext cx="14264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Estruturação: 3P-IA, posicionamento e canal de vendas ativo.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51960" y="160020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MÊS 3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352544" y="1892808"/>
            <a:ext cx="347472" cy="347472"/>
          </a:xfrm>
          <a:prstGeom prst="ellipse">
            <a:avLst/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352544" y="1892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749040" y="2377440"/>
            <a:ext cx="1609344" cy="2514600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840480" y="2450592"/>
            <a:ext cx="1426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Conteúdo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840480" y="3154680"/>
            <a:ext cx="14264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de conteúdo em produção assistida + consultoria mensal.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52744" y="160020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MÊS 4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053328" y="1892808"/>
            <a:ext cx="347472" cy="347472"/>
          </a:xfrm>
          <a:prstGeom prst="ellipse">
            <a:avLst/>
          </a:prstGeom>
          <a:solidFill>
            <a:srgbClr val="DD3333"/>
          </a:solidFill>
          <a:ln w="12700">
            <a:solidFill>
              <a:srgbClr val="DD3333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053328" y="1892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49824" y="2377440"/>
            <a:ext cx="1609344" cy="2514600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541264" y="2450592"/>
            <a:ext cx="1426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Performance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541264" y="3154680"/>
            <a:ext cx="14264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de mídia paga:</a:t>
            </a:r>
            <a:endParaRPr lang="en-US" sz="1000" dirty="0"/>
          </a:p>
          <a:p>
            <a:r>
              <a:t>campanhas, pixel, tracking</a:t>
            </a:r>
          </a:p>
          <a:p>
            <a:r>
              <a:t>e otimização de canais.</a:t>
            </a:r>
          </a:p>
        </p:txBody>
      </p:sp>
      <p:sp>
        <p:nvSpPr>
          <p:cNvPr id="29" name="Text 27"/>
          <p:cNvSpPr/>
          <p:nvPr/>
        </p:nvSpPr>
        <p:spPr>
          <a:xfrm>
            <a:off x="7653528" y="160020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MÊS 5/6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754112" y="1892808"/>
            <a:ext cx="347472" cy="347472"/>
          </a:xfrm>
          <a:prstGeom prst="ellipse">
            <a:avLst/>
          </a:prstGeom>
          <a:solidFill>
            <a:srgbClr val="EE4444"/>
          </a:solidFill>
          <a:ln w="12700">
            <a:solidFill>
              <a:srgbClr val="EE4444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754112" y="1892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50608" y="2377440"/>
            <a:ext cx="1609344" cy="2514600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242048" y="2450592"/>
            <a:ext cx="1426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CRM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42048" y="3154680"/>
            <a:ext cx="14264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Scripts, follow-up,</a:t>
            </a:r>
            <a:endParaRPr lang="en-US" sz="1000" dirty="0"/>
          </a:p>
          <a:p>
            <a:r>
              <a:t>pipeline WhatsApp e</a:t>
            </a:r>
          </a:p>
          <a:p>
            <a:r>
              <a:t>monetização do funil.</a:t>
            </a:r>
          </a:p>
        </p:txBody>
      </p:sp>
      <p:sp>
        <p:nvSpPr>
          <p:cNvPr id="35" name="Text 33"/>
          <p:cNvSpPr/>
          <p:nvPr/>
        </p:nvSpPr>
        <p:spPr>
          <a:xfrm>
            <a:off x="5852160" y="960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 Ciclo se renova após o 6º mês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LONGO DO PROGRAMA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Além das sessões de execução assistida, você tem acesso permanente a: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417320"/>
            <a:ext cx="4114800" cy="1600200"/>
          </a:xfrm>
          <a:prstGeom prst="roundRect">
            <a:avLst>
              <a:gd name="adj" fmla="val 685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5819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 PRIVADA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2002536"/>
            <a:ext cx="3749040" cy="13716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7568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Peers do mesmo segmento. Troca de experiências, benchmarks e networking qualificado com quem está no mesmo estágio de negócio.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1417320"/>
            <a:ext cx="4114800" cy="1600200"/>
          </a:xfrm>
          <a:prstGeom prst="roundRect">
            <a:avLst>
              <a:gd name="adj" fmla="val 685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5819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MENTORIAS COLETIVAS MENSAIS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92040" y="2002536"/>
            <a:ext cx="3749040" cy="13716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207568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mensais temáticas alinhadas ao calendário comercial. Todo mês, um tema prático com aplicação direta no seu negócio.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154680"/>
            <a:ext cx="4114800" cy="1600200"/>
          </a:xfrm>
          <a:prstGeom prst="roundRect">
            <a:avLst>
              <a:gd name="adj" fmla="val 685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33192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DE CONTEÚDO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739896"/>
            <a:ext cx="3749040" cy="13716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8130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Trilhas de aprendizagem, artefatos editáveis, templates e playbooks organizados por especialidade e fase da jornada.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3154680"/>
            <a:ext cx="4114800" cy="1600200"/>
          </a:xfrm>
          <a:prstGeom prst="roundRect">
            <a:avLst>
              <a:gd name="adj" fmla="val 685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33192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FÁBRICA DE RECEITA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92040" y="3739896"/>
            <a:ext cx="3749040" cy="13716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38130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Imersão presencial inclusa no programa. Hot seats ao vivo, cases reais de outros empresários e workshops de tráfego, conteúdo e comercial.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-1371600"/>
            <a:ext cx="8229600" cy="8229600"/>
          </a:xfrm>
          <a:prstGeom prst="ellipse">
            <a:avLst/>
          </a:prstGeom>
          <a:solidFill>
            <a:srgbClr val="CC0000">
              <a:alpha val="12000"/>
            </a:srgbClr>
          </a:solidFill>
          <a:ln w="12700">
            <a:solidFill>
              <a:srgbClr val="CC0000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 de preço — Ecofitness Aldeia (formato semestral)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846320" cy="3474720"/>
          </a:xfrm>
          <a:prstGeom prst="roundRect">
            <a:avLst>
              <a:gd name="adj" fmla="val 3947"/>
            </a:avLst>
          </a:prstGeom>
          <a:solidFill>
            <a:srgbClr val="180000"/>
          </a:solidFill>
          <a:ln w="12700">
            <a:solidFill>
              <a:srgbClr val="3D000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50876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Estruturação Estratégica (EE)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R$ 15.174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4297680" cy="13716"/>
          </a:xfrm>
          <a:prstGeom prst="rect">
            <a:avLst/>
          </a:prstGeom>
          <a:solidFill>
            <a:srgbClr val="330000"/>
          </a:solidFill>
          <a:ln w="12700">
            <a:solidFill>
              <a:srgbClr val="3300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51460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Cashback EE na compra do EQV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R$ 15.174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4297680" cy="13716"/>
          </a:xfrm>
          <a:prstGeom prst="rect">
            <a:avLst/>
          </a:prstGeom>
          <a:solidFill>
            <a:srgbClr val="330000"/>
          </a:solidFill>
          <a:ln w="12700">
            <a:solidFill>
              <a:srgbClr val="33000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342900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que Vende (semestral)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74904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R$ 40.174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394960" y="1371600"/>
            <a:ext cx="3429000" cy="1572768"/>
          </a:xfrm>
          <a:prstGeom prst="roundRect">
            <a:avLst>
              <a:gd name="adj" fmla="val 8721"/>
            </a:avLst>
          </a:prstGeom>
          <a:solidFill>
            <a:srgbClr val="CC0000"/>
          </a:solidFill>
          <a:ln/>
          <a:effectLst>
            <a:outerShdw sx="100000" sy="100000" kx="0" ky="0" algn="bl" rotWithShape="0" blurRad="254000" dist="63500" dir="2700000">
              <a:srgbClr val="CC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94960" y="148132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VISTA  (com cashback EE)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94960" y="181051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R$ 25.000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5394960" y="3090672"/>
            <a:ext cx="3429000" cy="1572768"/>
          </a:xfrm>
          <a:prstGeom prst="roundRect">
            <a:avLst>
              <a:gd name="adj" fmla="val 8721"/>
            </a:avLst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94960" y="320040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PARCELADO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94960" y="3547872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12x R$ 2.363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394960" y="422452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~1,99% a.m.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· Tracking · WhatsApp inclusos no valor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0"/>
            <a:ext cx="3474720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114800" y="-457200"/>
            <a:ext cx="3657600" cy="6057900"/>
          </a:xfrm>
          <a:prstGeom prst="ellipse">
            <a:avLst/>
          </a:prstGeom>
          <a:solidFill>
            <a:srgbClr val="CC0000">
              <a:alpha val="30000"/>
            </a:srgbClr>
          </a:solidFill>
          <a:ln w="12700">
            <a:solidFill>
              <a:srgbClr val="CC0000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400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30632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Qualifique a Ecofitness Aldeia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Empresa que Vende.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3977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v4.empresaquevende.com.br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760720" y="164592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Fale com um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 V4</a:t>
            </a:r>
            <a:endParaRPr lang="en-US" sz="2200" dirty="0"/>
          </a:p>
          <a:p>
            <a:pPr algn="ctr" indent="0" marL="0">
              <a:buNone/>
            </a:pPr>
            <a:endParaRPr lang="en-US" sz="22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v4.empresaquevende.com.br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COMPANY  ·  ECOFITNESS ALDEIA  ·  2026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Empresa que Vende — V4 Company</dc:title>
  <dc:subject>PptxGenJS Presentation</dc:subject>
  <dc:creator>V4 Company</dc:creator>
  <cp:lastModifiedBy>V4 Company</cp:lastModifiedBy>
  <cp:revision>1</cp:revision>
  <dcterms:created xsi:type="dcterms:W3CDTF">2026-07-06T16:11:43Z</dcterms:created>
  <dcterms:modified xsi:type="dcterms:W3CDTF">2026-07-06T16:11:43Z</dcterms:modified>
</cp:coreProperties>
</file>
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E0E0"/>
                </a:solidFill>
                <a:latin typeface="Arial"/>
              </a:rPr>
              <a:t>Modular Estruturas  ×  V4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Máquina de vendas</a:t>
            </a:r>
          </a:p>
          <a:p>
            <a:pPr algn="ctr"/>
            <a:r>
              <a:rPr sz="4000" b="1">
                <a:solidFill>
                  <a:srgbClr val="FFE8E8"/>
                </a:solidFill>
                <a:latin typeface="Arial"/>
              </a:rPr>
              <a:t>escalável e previsível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E0E0"/>
                </a:solidFill>
                <a:latin typeface="Arial"/>
              </a:rPr>
              <a:t>Dois produtos independentes para a Modular vender mais estruturas solares: estruturar o comercial e operar atração com Growth.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120640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5166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EC  ·  GROWTH  ·  CRM BONIFICADO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E0E0"/>
                </a:solidFill>
                <a:latin typeface="Arial"/>
              </a:rPr>
              <a:t>O PONTO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Tráfego sem processo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é dinheiro no lixo.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No mercado de estruturas metálicas para solar, a maioria das empresas não falha por falta de leads — falha por vazamento depois do orçamento técnico.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E0E0"/>
                </a:solidFill>
                <a:latin typeface="Arial"/>
              </a:rPr>
              <a:t>01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Orçamento sem follow-up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Integrador pede cotação, some no silêncio e a concorrência fecha. Cada orçamento perdido era demanda já gerada.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004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3375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E0E0"/>
                </a:solidFill>
                <a:latin typeface="Arial"/>
              </a:rPr>
              <a:t>02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CRM sem governança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Pipeline solto, etapas sem dono e zero previsibilidade. Sem rituais, o time vende no feeling — não no processo.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32004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33375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E0E0"/>
                </a:solidFill>
                <a:latin typeface="Arial"/>
              </a:rPr>
              <a:t>03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Atração sem conversão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Mídia gera interesse, mas sem passagem de bastão e SLA o comercial não aproveita 100% da oportunidade.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E0E0"/>
                </a:solidFill>
                <a:latin typeface="Arial"/>
              </a:rPr>
              <a:t>CONTEXTO MODULAR ESTRUTURAS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O que já existe — e o que</a:t>
            </a:r>
          </a:p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ainda vaza no funil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O que já funciona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+1.000 empresas de energia solar atendidas no Brasil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Portfólio claro: solo, carport, estruturas sob medida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CRM já em uso (base pronta para reestruturar)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Produto técnico com até 30 anos de garantia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Marca posicionada para integradores e grandes projetos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56032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O que está vazando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Follow-up pós-orçamento sem cadência rígida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Funil comercial sem governança e KPIs claros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Passagem marketing → vendas sem SLA definido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Atração de integradores ainda sem operação contínua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ROI de mídia sem rastreabilidade ponta a ponta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E0E0"/>
                </a:solidFill>
                <a:latin typeface="Arial"/>
              </a:rPr>
              <a:t>ARQUITETURA DA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Dois produtos. Zero dependência.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6400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Vocês podem contratar só a Estruturação Comercial, só a Assessoria de Growth, ou as duas. Uma não condiciona a outra.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5212080" cy="292608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E0E0"/>
                </a:solidFill>
                <a:latin typeface="Arial"/>
              </a:rPr>
              <a:t>PRODUTO 01  ·  PROJETO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Estruturação Comercial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Diagnóstico, funil, KPIs e SLAs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Playbooks, scripts e rituais de gestão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Política de comissão e definição de ICP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Reestruturação do CRM (bonificada)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Treinamento da equipe na nova rotina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926080"/>
            <a:ext cx="5212080" cy="292608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06324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E0E0"/>
                </a:solidFill>
                <a:latin typeface="Arial"/>
              </a:rPr>
              <a:t>PRODUTO 02  ·  RECORRENTE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Assessoria de Growth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Account Manager (não dedicado) orquestrando a operação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Gestão de Tráfego (Google + Meta Ads)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Copy de performance B2B / integradores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Design de criativos e peças comerciais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Otimização contínua de CAC e demanda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E0E0"/>
                </a:solidFill>
                <a:latin typeface="Arial"/>
              </a:rPr>
              <a:t>PRODUTO 01 · ESTRUTURAÇÃO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Processo que transforma</a:t>
            </a:r>
          </a:p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orçamento em receita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E0E0"/>
                </a:solidFill>
                <a:latin typeface="Arial"/>
              </a:rPr>
              <a:t>01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Diagnóstico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Equipes, metas e gargalos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6060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9" y="2697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E0E0"/>
                </a:solidFill>
                <a:latin typeface="Arial"/>
              </a:rPr>
              <a:t>02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CRM operativo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Pipes, automações e governança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060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E0E0"/>
                </a:solidFill>
                <a:latin typeface="Arial"/>
              </a:rPr>
              <a:t>03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Estrutura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SLA, scripts e comissão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59" y="26060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2697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E0E0"/>
                </a:solidFill>
                <a:latin typeface="Arial"/>
              </a:rPr>
              <a:t>04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Treinamento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Imersão na nova rotina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891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Governança de CRM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Etapas, automações e relatórios gerenciais para extrair gargalos na hora.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3891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5262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Playbooks e scripts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Cadências, discursos e papéis (SDR/Closer) documentados para o time repetir.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43891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45262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SLA marketing–vendas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Qual lead entra, em quanto tempo responde, e quem é dono de cada etapa.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E0E0"/>
                </a:solidFill>
                <a:latin typeface="Arial"/>
              </a:rPr>
              <a:t>INCLUÍDO NA ESTRUTURAÇÃO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Reestruturação do CRM</a:t>
            </a:r>
          </a:p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já existente — bonificada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212080" cy="292608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O que reestruturamos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Criação / ajuste de pipes de vendas e fases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Implementações básicas de CRM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Conexão dos canais de captura de leads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Configuração de bot de boas-vindas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Automações de etapas e follow-up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Relatórios gerenciais de gargalos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560320"/>
            <a:ext cx="5212080" cy="292608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O que muda no dia a dia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Orçamentos com dono e prazo de follow-up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Visão unificada do funil comercial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Motivos de perda claros para corrigir rota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Base pronta para escala de demanda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Menos “feeling”, mais processo repetível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0% de desperdício permitido no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66928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607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7F7D0"/>
                </a:solidFill>
                <a:latin typeface="Arial"/>
              </a:rPr>
              <a:t>BONIFICADO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A reestruturação do CRM entra como entrega inclusa na Estruturação Comercial — sem custo adicional.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E0E0"/>
                </a:solidFill>
                <a:latin typeface="Arial"/>
              </a:rPr>
              <a:t>PRODUTO 02 · ASSESSORIA DE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Account + GT + Copy + Design</a:t>
            </a:r>
          </a:p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gerando demanda qualificada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Operação mensal para atrair integradores e projetos de grande porte — com narrativa B2B e otimização contínua de CAC.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E0E0"/>
                </a:solidFill>
                <a:latin typeface="Arial"/>
              </a:rPr>
              <a:t>ACCOUNT + GT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Operação e mídia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Account orquestrando prioridades com a diretoria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Gestão de Google Ads e Meta Ads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Campanhas focadas em B2B / integradores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Testes contínuos para reduzir CAC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Leitura do funil do clique ao orçamento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Check-ins com visibilidade total da operação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017520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1546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E0E0"/>
                </a:solidFill>
                <a:latin typeface="Arial"/>
              </a:rPr>
              <a:t>COPY + DESIGN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Peças com foco comercial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Copy de performance para o público comprador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Banners, criativos e vídeos de demonstração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Peças alinhadas a solo, carport e sob medida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Narrativa técnica sem perder conversão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Identidade visual consistente nos canais pagos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E0E0"/>
                </a:solidFill>
                <a:latin typeface="Arial"/>
              </a:rPr>
              <a:t>•  Backlog dinâmico de testes criativos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E0E0"/>
                </a:solidFill>
                <a:latin typeface="Arial"/>
              </a:rPr>
              <a:t>CADÊNCIA DA ASSESSORIA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Como a operação roda</a:t>
            </a:r>
          </a:p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no dia a 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70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Diária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700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Monitoramento ativo de tráfego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67004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Lances, eventos e anomalias de entrada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472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Quinzenal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4472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Check-in de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44728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KPIs, ROAS, backlog e calibração tática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4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Trimestral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2245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Planejamento e QBR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22452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Alinhamento orçamentário e metas com liderança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Demanda constante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Funil contínuo de integradores e projetos de grande porte.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50292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51206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CAC sob controle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Testes orientados a custo de aquisição, não vanity metrics.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50292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9" y="51206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Accountability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Account na frente: prioridades claras e entregas visíveis.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E0E0"/>
                </a:solidFill>
                <a:latin typeface="Arial"/>
              </a:rPr>
              <a:t>INVESTIMENTO · PRODUTOS INDEPENDENTES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Escolha A, B ou as duas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6400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5C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E0E0"/>
                </a:solidFill>
                <a:latin typeface="Arial"/>
              </a:rPr>
              <a:t>PRODUTO 01  ·  PROJETO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Estruturação Comercial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Funil · KPIs · Playbooks · Treinamento · CRM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R$ 10.141,57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único  ·  projeto de ativação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•  Funil, ICP, KPIs, SLAs e processos (BPMN)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•  Playbooks, scripts e política de comissão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•  Rituais + treinamento + CRM bonificado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286000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5C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4231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E0E0"/>
                </a:solidFill>
                <a:latin typeface="Arial"/>
              </a:rPr>
              <a:t>PRODUTO 02  ·  RECORRENTE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Assessoria de Growth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Account + GT + Copy + Design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R$ 4.713,83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/mês  ·  operação contínua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•  Account Manager (não dedicado) + GT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•  Copywriter + Designer de criativos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E0E0"/>
                </a:solidFill>
                <a:latin typeface="Arial"/>
              </a:rPr>
              <a:t>•  Cadência diária / quinzenal / trimestral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623560"/>
            <a:ext cx="10881360" cy="4572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E8E8"/>
                </a:solidFill>
                <a:latin typeface="Arial"/>
              </a:rPr>
              <a:t>A Estruturação Comercial não depende da Assessoria — e a Assessoria não exige a EC para começar.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172200"/>
            <a:ext cx="10881360" cy="457200"/>
          </a:xfrm>
          <a:prstGeom prst="roundRect">
            <a:avLst>
              <a:gd name="adj" fmla="val 8000"/>
            </a:avLst>
          </a:prstGeom>
          <a:solidFill>
            <a:srgbClr val="1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BONIFICADO NA EC: reestruturação do CRM (pipes, fases, canais e bot) inclusa — sem custo extra.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E0E0"/>
                </a:solidFill>
                <a:latin typeface="Arial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Próximos passos comerciais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6400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E0E0"/>
                </a:solidFill>
                <a:latin typeface="Arial"/>
              </a:rPr>
              <a:t>01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Validação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Alinhar escopos e escolher A, B ou A+B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37744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9" y="25146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E0E0"/>
                </a:solidFill>
                <a:latin typeface="Arial"/>
              </a:rPr>
              <a:t>02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Formalização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Contrato e kick-off administrativo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E0E0"/>
                </a:solidFill>
                <a:latin typeface="Arial"/>
              </a:rPr>
              <a:t>03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Onboarding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Acessos, auditoria de CRM e mapeamento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59" y="237744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25146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E0E0"/>
                </a:solidFill>
                <a:latin typeface="Arial"/>
              </a:rPr>
              <a:t>04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Start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E0E0"/>
                </a:solidFill>
                <a:latin typeface="Arial"/>
              </a:rPr>
              <a:t>Ativação do(s) produto(s) contratado(s)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80560"/>
            <a:ext cx="10881360" cy="1737360"/>
          </a:xfrm>
          <a:prstGeom prst="roundRect">
            <a:avLst>
              <a:gd name="adj" fmla="val 8000"/>
            </a:avLst>
          </a:prstGeom>
          <a:solidFill>
            <a:srgbClr val="8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O que a Modular leva com a V4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Processo comercial blindado e/ou atração contínua de integradores — cada frente com valor próprio, sem amarra entre os produtos. Menos orçamento perdido. Mais previsibilidade. Mais faturamento.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FE8E8"/>
                </a:solidFill>
                <a:latin typeface="Arial"/>
              </a:rPr>
              <a:t>Acelerando o faturamento do ecossistema solar com processos, dados e tração.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